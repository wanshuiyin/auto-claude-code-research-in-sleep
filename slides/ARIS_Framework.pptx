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121"/>
                </a:solidFill>
                <a:latin typeface="Calibri"/>
              </a:rPr>
              <a:t>ARIS Design Philosophy: Separate Progress from Judgment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713232"/>
            <a:ext cx="11460175" cy="38404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6809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Cross-Model Jury: Claude executes → GPT-5.5 Codex adjudicates → deterministic scripts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CORE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746906" cy="233172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26464"/>
            <a:ext cx="360060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37E"/>
                </a:solidFill>
                <a:latin typeface="Calibri"/>
              </a:rPr>
              <a:t>DRIVE vs ACQUIT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45920"/>
            <a:ext cx="3600602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DRIVE: execute, schedule, generate, compile, mechanical checks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Safe for the same model to perform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ACQUIT: correctness, novelty, sufficiency, completeness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Must be decided by a different model family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One rule shapes every ARIS design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2394" y="120700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2394" y="1371600"/>
            <a:ext cx="3746906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5546" y="1426464"/>
            <a:ext cx="360060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F61"/>
                </a:solidFill>
                <a:latin typeface="Calibri"/>
              </a:rPr>
              <a:t>Type-A / Type-B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5546" y="1645920"/>
            <a:ext cx="3600602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Type-A (mechanical): exit code, file exists, job completed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Executor can self-judge safely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Type-B (judgmental): quality, correctness, novelty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Routed to GPT-5.5 Codex reviewer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Calibri"/>
              </a:rPr>
              <a:t>Shared 6-state verdict: PASS / WARN / FAIL / BLOCKED / ERROR / NOT_APPLICABLE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9028" y="120700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9028" y="1371600"/>
            <a:ext cx="3746906" cy="233172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180" y="1426464"/>
            <a:ext cx="360060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37E"/>
                </a:solidFill>
                <a:latin typeface="Calibri"/>
              </a:rPr>
              <a:t>Independent Axes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2180" y="1691640"/>
            <a:ext cx="360060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8756" y="1737360"/>
            <a:ext cx="35274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121"/>
                </a:solidFill>
                <a:latin typeface="Calibri"/>
              </a:rPr>
              <a:t>effort</a:t>
            </a:r>
            <a:br/>
            <a:r>
              <a:t>lite → balanced → max → beast</a:t>
            </a:r>
            <a:br/>
            <a:r>
              <a:t>(how much work)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180" y="2286000"/>
            <a:ext cx="360060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8756" y="2331720"/>
            <a:ext cx="352745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121"/>
                </a:solidFill>
                <a:latin typeface="Calibri"/>
              </a:rPr>
              <a:t>assurance</a:t>
            </a:r>
            <a:br/>
            <a:r>
              <a:t>draft → polished → conference-ready → submission</a:t>
            </a:r>
            <a:br/>
            <a:r>
              <a:t>(how strict audits)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2180" y="2907792"/>
            <a:ext cx="36006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757575"/>
                </a:solidFill>
                <a:latin typeface="Calibri"/>
              </a:rPr>
              <a:t>Example: effort:lite, assurance:submission = fast run, strict 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86200"/>
            <a:ext cx="11460175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41064"/>
            <a:ext cx="112772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37E"/>
                </a:solidFill>
                <a:latin typeface="Calibri"/>
              </a:rPr>
              <a:t>How the ideas connect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06240"/>
            <a:ext cx="2750743" cy="173736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261104"/>
            <a:ext cx="2604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1. No self-acquittal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480560"/>
            <a:ext cx="2604439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Same model cannot judge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its own output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26231.75" y="5074920.0"/>
            <a:ext cx="54864.0" cy="0.0"/>
          </a:xfrm>
          <a:prstGeom prst="line">
            <a:avLst/>
          </a:prstGeom>
          <a:ln w="1905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99383" y="4206240"/>
            <a:ext cx="2750743" cy="173736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2535" y="4261104"/>
            <a:ext cx="2604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2. Gate taxonomy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2535" y="4480560"/>
            <a:ext cx="2604439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Mechanical vs judgmental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determines who decides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68415.5" y="5074920.0"/>
            <a:ext cx="54864.0" cy="0.0"/>
          </a:xfrm>
          <a:prstGeom prst="line">
            <a:avLst/>
          </a:prstGeom>
          <a:ln w="1905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41567" y="4206240"/>
            <a:ext cx="2750743" cy="173736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4719" y="4261104"/>
            <a:ext cx="2604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3. Orthogonal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4719" y="4480560"/>
            <a:ext cx="2604439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Effort and assurance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scale independently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10599.25" y="5074920.0"/>
            <a:ext cx="54864.0" cy="0.0"/>
          </a:xfrm>
          <a:prstGeom prst="line">
            <a:avLst/>
          </a:prstGeom>
          <a:ln w="1905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983751" y="4206240"/>
            <a:ext cx="2750743" cy="173736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6903" y="4261104"/>
            <a:ext cx="2604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4. Verdict vocabulary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6903" y="4480560"/>
            <a:ext cx="2604439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6 states shared across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all skills and audits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57575"/>
                </a:solidFill>
                <a:latin typeface="Calibri"/>
              </a:rPr>
              <a:t>ARIS Framework &amp;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60175" y="66019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57575"/>
                </a:solidFill>
                <a:latin typeface="Calibri"/>
              </a:rP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121"/>
                </a:solidFill>
                <a:latin typeface="Calibri"/>
              </a:rPr>
              <a:t>ARIS Framework &amp; Detailed Flow: Six Workflows + Three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4572000" cy="21031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40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88136"/>
            <a:ext cx="1347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A237E"/>
                </a:solidFill>
                <a:latin typeface="Calibri"/>
              </a:rPr>
              <a:t>Claude</a:t>
            </a:r>
            <a:br/>
            <a:r>
              <a:t>Executor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62456"/>
            <a:ext cx="1347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Calibri"/>
              </a:rPr>
              <a:t>Write</a:t>
            </a:r>
            <a:br/>
            <a:r>
              <a:t>Run</a:t>
            </a:r>
            <a:br/>
            <a:r>
              <a:t>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50720" y="1051560"/>
            <a:ext cx="140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8152" y="1088136"/>
            <a:ext cx="1347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A237E"/>
                </a:solidFill>
                <a:latin typeface="Calibri"/>
              </a:rPr>
              <a:t>GPT-5.5</a:t>
            </a:r>
            <a:br/>
            <a:r>
              <a:t>Reviewer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8152" y="1362456"/>
            <a:ext cx="1347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Calibri"/>
              </a:rPr>
              <a:t>Review</a:t>
            </a:r>
            <a:br/>
            <a:r>
              <a:t>Audit</a:t>
            </a:r>
            <a:br/>
            <a:r>
              <a:t>Adjudicate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520" y="1051560"/>
            <a:ext cx="1402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5952" y="1088136"/>
            <a:ext cx="1347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A237E"/>
                </a:solidFill>
                <a:latin typeface="Calibri"/>
              </a:rPr>
              <a:t>Deterministic</a:t>
            </a:r>
            <a:br/>
            <a:r>
              <a:t>Verifier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5952" y="1362456"/>
            <a:ext cx="1347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Calibri"/>
              </a:rPr>
              <a:t>Exit-code</a:t>
            </a:r>
            <a:br/>
            <a:r>
              <a:t>Gates</a:t>
            </a:r>
            <a:br/>
            <a:r>
              <a:t>Scripts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.0" y="1737360"/>
            <a:ext cx="0.0" cy="274320"/>
          </a:xfrm>
          <a:prstGeom prst="line">
            <a:avLst/>
          </a:prstGeom>
          <a:ln w="1524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2011680"/>
            <a:ext cx="40233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756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Disk state: receipts, REVIEW_STATE.json, traces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4203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37E"/>
                </a:solidFill>
                <a:latin typeface="Calibri"/>
              </a:rPr>
              <a:t>W1–W6 Lifecycle</a:t>
            </a:r>
          </a:p>
        </p:txBody>
      </p:sp>
      <p:sp>
        <p:nvSpPr>
          <p:cNvPr id="19" name="Oval 18"/>
          <p:cNvSpPr/>
          <p:nvPr/>
        </p:nvSpPr>
        <p:spPr>
          <a:xfrm>
            <a:off x="530352" y="2788920"/>
            <a:ext cx="402336" cy="402336"/>
          </a:xfrm>
          <a:prstGeom prst="ellipse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W1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Idea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.0" y="2990088"/>
            <a:ext cx="146304.0" cy="0"/>
          </a:xfrm>
          <a:prstGeom prst="line">
            <a:avLst/>
          </a:prstGeom>
          <a:ln w="1016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78992" y="2788920"/>
            <a:ext cx="402336" cy="402336"/>
          </a:xfrm>
          <a:prstGeom prst="ellipse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W1.5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Exp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81328.0" y="2990088"/>
            <a:ext cx="146304.0" cy="0"/>
          </a:xfrm>
          <a:prstGeom prst="line">
            <a:avLst/>
          </a:prstGeom>
          <a:ln w="1016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627632" y="2788920"/>
            <a:ext cx="402336" cy="402336"/>
          </a:xfrm>
          <a:prstGeom prst="ellipse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W2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Review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29968.0" y="2990088"/>
            <a:ext cx="146304.0" cy="0"/>
          </a:xfrm>
          <a:prstGeom prst="line">
            <a:avLst/>
          </a:prstGeom>
          <a:ln w="1016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176272" y="2788920"/>
            <a:ext cx="402336" cy="402336"/>
          </a:xfrm>
          <a:prstGeom prst="ellipse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627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Summary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78608.0" y="2990088"/>
            <a:ext cx="146304.0" cy="0"/>
          </a:xfrm>
          <a:prstGeom prst="line">
            <a:avLst/>
          </a:prstGeom>
          <a:ln w="1016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724912" y="2788920"/>
            <a:ext cx="402336" cy="402336"/>
          </a:xfrm>
          <a:prstGeom prst="ellipse">
            <a:avLst/>
          </a:prstGeom>
          <a:solidFill>
            <a:srgbClr val="FFFFFF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491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1A237E"/>
                </a:solidFill>
                <a:latin typeface="Calibri"/>
              </a:rPr>
              <a:t>W3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Paper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127248.0" y="2990088"/>
            <a:ext cx="146304.0" cy="0"/>
          </a:xfrm>
          <a:prstGeom prst="line">
            <a:avLst/>
          </a:prstGeom>
          <a:ln w="1016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273552" y="2788920"/>
            <a:ext cx="402336" cy="402336"/>
          </a:xfrm>
          <a:prstGeom prst="ellipse">
            <a:avLst/>
          </a:prstGeom>
          <a:solidFill>
            <a:srgbClr val="FFFFFF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7355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1A237E"/>
                </a:solidFill>
                <a:latin typeface="Calibri"/>
              </a:rPr>
              <a:t>W4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Rebuttal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675888.0" y="2990088"/>
            <a:ext cx="146304.0" cy="0"/>
          </a:xfrm>
          <a:prstGeom prst="line">
            <a:avLst/>
          </a:prstGeom>
          <a:ln w="1016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822192" y="2788920"/>
            <a:ext cx="402336" cy="402336"/>
          </a:xfrm>
          <a:prstGeom prst="ellipse">
            <a:avLst/>
          </a:prstGeom>
          <a:solidFill>
            <a:srgbClr val="FFFFFF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2219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1A237E"/>
                </a:solidFill>
                <a:latin typeface="Calibri"/>
              </a:rPr>
              <a:t>W5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219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Resubmit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224528.0" y="2990088"/>
            <a:ext cx="146304.0" cy="0"/>
          </a:xfrm>
          <a:prstGeom prst="line">
            <a:avLst/>
          </a:prstGeom>
          <a:ln w="1016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370832" y="2788920"/>
            <a:ext cx="402336" cy="402336"/>
          </a:xfrm>
          <a:prstGeom prst="ellipse">
            <a:avLst/>
          </a:prstGeom>
          <a:solidFill>
            <a:srgbClr val="FFFFFF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0832" y="2816352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1A237E"/>
                </a:solidFill>
                <a:latin typeface="Calibri"/>
              </a:rPr>
              <a:t>W6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0832" y="2971800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12121"/>
                </a:solidFill>
                <a:latin typeface="Calibri"/>
              </a:rPr>
              <a:t>Talk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IDEA_REPORT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RESULTS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AUTO_REVIEW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452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NARRATIVE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main.pdf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PASTE_READY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&lt;Venue&gt;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9080" y="32369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757575"/>
                </a:solidFill>
                <a:latin typeface="Calibri"/>
              </a:rPr>
              <a:t>slides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3611880"/>
            <a:ext cx="45720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3666744"/>
            <a:ext cx="4425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F61"/>
                </a:solidFill>
                <a:latin typeface="Calibri"/>
              </a:rPr>
              <a:t>Integration Contract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3886200"/>
            <a:ext cx="442569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6 components per skill integration: predicate + helper + artifact + checklist + backfill + verifier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Helper resolution: .aris/tools → tools → $ARIS_REPO/tools → $CLAUDE_SKILL_DIR/scripts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Failure policies A–E: block / warn-skip / forensic / cascade / diagnostic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0" y="71323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REVIEWER DISPATCH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20640" y="868680"/>
            <a:ext cx="6705295" cy="96012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93792" y="923544"/>
            <a:ext cx="6558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Cross-model review protocol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93792" y="1143000"/>
            <a:ext cx="6558991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Reviewer prompt receives only file paths, never executor summaries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Round 1: fresh Codex agent; Round 2+: continuation on same thread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REVIEWER_BIAS_GUARD: improvement-loop uses fresh thread every round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19019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PARALLELISM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20640" y="2057400"/>
            <a:ext cx="6705295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93792" y="2112264"/>
            <a:ext cx="6558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Fan-out pattern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93792" y="2331720"/>
            <a:ext cx="6558991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T1 Workflow parallel → T2 Agent-tool parallel → T3 Sequential fallback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Shards EXTRACT candidates; mechanical dedup happens before jury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Jury (Claude + GPT-5.5) ADJUDICATES, never the shards themselves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30906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AUDIT CHAIN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120640" y="3246120"/>
            <a:ext cx="6705295" cy="132588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93792" y="3300984"/>
            <a:ext cx="6558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5-layer audit before submission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93792" y="3520440"/>
            <a:ext cx="6558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1. experiment-audit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93792" y="3721608"/>
            <a:ext cx="6558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2. result-to-claim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93792" y="3922776"/>
            <a:ext cx="6558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3. paper-claim-audit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93792" y="4123944"/>
            <a:ext cx="6558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4. citation-audit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93792" y="4325112"/>
            <a:ext cx="6558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5. proof-checker / kill-argument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408615" y="3794760"/>
            <a:ext cx="1325880" cy="502920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54335" y="38587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Submission</a:t>
            </a:r>
            <a:br/>
            <a:r>
              <a:t>gate exit 0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317175" y="4041648"/>
            <a:ext cx="45720" cy="0"/>
          </a:xfrm>
          <a:prstGeom prst="line">
            <a:avLst/>
          </a:prstGeom>
          <a:ln w="15240">
            <a:solidFill>
              <a:srgbClr val="FF6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65760" y="66019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57575"/>
                </a:solidFill>
                <a:latin typeface="Calibri"/>
              </a:rPr>
              <a:t>ARIS Framework &amp; Design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60175" y="66019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57575"/>
                </a:solidFill>
                <a:latin typeface="Calibri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121"/>
                </a:solidFill>
                <a:latin typeface="Calibri"/>
              </a:rPr>
              <a:t>ARIS Memory &amp; Long-Cycle Operation: Survive, Resume, and Stay Honest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713232"/>
            <a:ext cx="11460175" cy="34747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Long-cycle principle: disk is the source of truth; timers fire-control but never judge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MEMORY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98448"/>
            <a:ext cx="3746906" cy="237744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53312"/>
            <a:ext cx="360060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37E"/>
                </a:solidFill>
                <a:latin typeface="Calibri"/>
              </a:rPr>
              <a:t>Persistent knowledge &amp;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72768"/>
            <a:ext cx="3600602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research_wiki.py: persistent store for ideas, claims, experiments, papers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Wiki-helper-resolution: load/upsert variants with provenance authorization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Capture antipatterns filter: no transient errors, no negative-capability claims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State files per workflow: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REVIEW_STATE.json (auto-review loop)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PAPER_IMPROVEMENT_STATE.json (paper polish)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REFINE_STATE.json (idea refine)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queue_state.json + run_meta.txt (experiment queue)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Receipts: .aris/runs/&lt;run_id&gt;.&lt;phase&gt;.done.json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2394" y="1143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2394" y="1298448"/>
            <a:ext cx="3746906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5546" y="1353312"/>
            <a:ext cx="360060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6F61"/>
                </a:solidFill>
                <a:latin typeface="Calibri"/>
              </a:rPr>
              <a:t>Resumable runs &amp; cadence 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5546" y="1572768"/>
            <a:ext cx="3600602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run_state.py: separates done (executor finished) from accepted (gate passed)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resume_point(): forward to first non-terminal phase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Re-audit done-but-unaccepted stages on resume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External cadence fence: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/loop and CronCreate only fire-control progress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Verdict-bearing skills are NEVER wrapped in /loop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Heartbeat is Type-A: touch state, log iterations, nudge stalls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Acceptance table maps each phase to its authority: codex agent-id or deterministic verifier path/sha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9028" y="1143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6F61"/>
                </a:solidFill>
                <a:latin typeface="Calibri"/>
              </a:rPr>
              <a:t>OPERATION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9028" y="1298448"/>
            <a:ext cx="3746906" cy="237744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180" y="1353312"/>
            <a:ext cx="360060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37E"/>
                </a:solidFill>
                <a:latin typeface="Calibri"/>
              </a:rPr>
              <a:t>Stall detection &amp;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2180" y="1572768"/>
            <a:ext cx="3600602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iteration_log.py: count new findings, not gut feelings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Overnight heartbeat: self-target create_heartbeat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stale≥2 → pivot=structural (change constraints)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  • stale≥4 → pivot=human (escalate)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watchdog.py: 24/7 health checks for remote training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Paseo orchestration: create_agent → notifyOnFinish → gate → archive_agent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Reviewer memory: continuation threads for loops, fresh threads for audits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212121"/>
                </a:solidFill>
                <a:latin typeface="Calibri"/>
              </a:rPr>
              <a:t>Review tracing: save_trace.sh writes 4 files + appends events.jsonl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40480"/>
            <a:ext cx="11460175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95344"/>
            <a:ext cx="112772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237E"/>
                </a:solidFill>
                <a:latin typeface="Calibri"/>
              </a:rPr>
              <a:t>How memory, recovery, and orchestration reinforce each other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43400"/>
            <a:ext cx="1828800" cy="64008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98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Memory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Calibri"/>
              </a:rPr>
              <a:t>wiki + state files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59152.0" y="4663440.0"/>
            <a:ext cx="1326794.333333333" cy="0.0"/>
          </a:xfrm>
          <a:prstGeom prst="line">
            <a:avLst/>
          </a:prstGeom>
          <a:ln w="25400">
            <a:solidFill>
              <a:srgbClr val="FF6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13378" y="4343400"/>
            <a:ext cx="1828800" cy="64008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9098" y="4398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Recovery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9098" y="4617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Calibri"/>
              </a:rPr>
              <a:t>resume + cadence fence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69610.333333333" y="4663440.0"/>
            <a:ext cx="1326794.333333333" cy="0.0"/>
          </a:xfrm>
          <a:prstGeom prst="line">
            <a:avLst/>
          </a:prstGeom>
          <a:ln w="25400">
            <a:solidFill>
              <a:srgbClr val="FF6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23836" y="4343400"/>
            <a:ext cx="1828800" cy="64008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9556" y="4398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Operation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9556" y="4617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Calibri"/>
              </a:rPr>
              <a:t>heartbeat + paseo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80068.666666666" y="4663440.0"/>
            <a:ext cx="1326794.333333334" cy="0.0"/>
          </a:xfrm>
          <a:prstGeom prst="line">
            <a:avLst/>
          </a:prstGeom>
          <a:ln w="25400">
            <a:solidFill>
              <a:srgbClr val="FF6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34295" y="4343400"/>
            <a:ext cx="1828800" cy="64008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80015" y="4398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37E"/>
                </a:solidFill>
                <a:latin typeface="Calibri"/>
              </a:rPr>
              <a:t>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4617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212121"/>
                </a:solidFill>
                <a:latin typeface="Calibri"/>
              </a:rPr>
              <a:t>receipts + traces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248656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53643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Wiki prevents repeated ideas; state files enable crash recovery</a:t>
            </a:r>
          </a:p>
        </p:txBody>
      </p:sp>
      <p:sp>
        <p:nvSpPr>
          <p:cNvPr id="37" name="Oval 36"/>
          <p:cNvSpPr/>
          <p:nvPr/>
        </p:nvSpPr>
        <p:spPr>
          <a:xfrm>
            <a:off x="6141567" y="5248656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8727" y="5212080"/>
            <a:ext cx="53643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Cadence fence prevents timers from owning verdicts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5660136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623560"/>
            <a:ext cx="53643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Paseo receipts make every agent action auditable</a:t>
            </a:r>
          </a:p>
        </p:txBody>
      </p:sp>
      <p:sp>
        <p:nvSpPr>
          <p:cNvPr id="41" name="Oval 40"/>
          <p:cNvSpPr/>
          <p:nvPr/>
        </p:nvSpPr>
        <p:spPr>
          <a:xfrm>
            <a:off x="6141567" y="5660136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8727" y="5623560"/>
            <a:ext cx="53643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Calibri"/>
              </a:rPr>
              <a:t>Traces satisfy Policy C forensic requirements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6019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57575"/>
                </a:solidFill>
                <a:latin typeface="Calibri"/>
              </a:rPr>
              <a:t>ARIS Framework &amp;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60175" y="66019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57575"/>
                </a:solidFill>
                <a:latin typeface="Calibri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